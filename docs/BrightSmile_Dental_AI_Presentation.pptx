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0058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CLINICAL AUTOMATION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BrightSmile Dental 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Conversational Voice, Smart Chat &amp; Dual-Calendar Scheduling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73152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200400"/>
            <a:ext cx="225856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31012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61188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1560" y="3858768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WebRTC Voice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4096512"/>
            <a:ext cx="198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human-like voice with &lt;300ms latency &amp; zero master key leaks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47288" y="3200400"/>
            <a:ext cx="225856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331012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84448" y="361188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BOOKING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84448" y="3858768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Calendar 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84448" y="4096512"/>
            <a:ext cx="198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bidirectional sync with Google Calendar API v3 &amp; Microsoft Graph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0176" y="3200400"/>
            <a:ext cx="225856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3310128"/>
            <a:ext cx="198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17336" y="361188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COMPLIANT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17336" y="3858768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Rule Safety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4096512"/>
            <a:ext cx="198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doctor qualification matrix &amp; anti-injection guardrails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&amp; BUSINESS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Front-Desk Scheduling into a 24/7 Advantage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dental front-desks miss 35% of after-hours appointment requests. BrightSmile AI captures every patient.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374904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CLINIC BOTTLENECKS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Overhead Cost: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costs $3,500 - $4,500/mo per receptionist for limited 40h/week coverage.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Revenue: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patient calls occur after-hours or on weekends, resulting in abandoned bookings.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Errors: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calendar data entry causes double-bookings and mismatched doctor scopes.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 Phone Hold: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telephone hold times during morning rushes frustrate patients.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374904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08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BRIGHTSMILE AI SOLUTION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Cost Reduction: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operational stack costs only $599/mo with unlimited concurrent capacity.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24/7/365 Omnichannel: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book anytime via spoken voice calls (WebRTC) or instant chat.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Double-Booking: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database locking and live sync to Google Calendar &amp; Outlook.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Qualification: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hard rules prevent booking complex surgery with junior dentists.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679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Seconds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178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HOLD TIME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pickup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97480" y="37947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8679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0" y="4178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AFTER-HOURS CAPTURE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434340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missed calls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679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$599.05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9160" y="4178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OPERATING COST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09160" y="434340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$3,500+ human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29400" y="37947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8679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300 ms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4178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LATENCY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5120" y="4343400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dialog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FLOW DIAGRAM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Patient Booking &amp; Calendar Sync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spoken voice and chat requests move securely from the patient browser to authoritative clinical confirmation.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389888" cy="1965960"/>
          </a:xfrm>
          <a:prstGeom prst="roundRect">
            <a:avLst>
              <a:gd name="adj" fmla="val 6579"/>
            </a:avLst>
          </a:prstGeom>
          <a:solidFill>
            <a:srgbClr val="F0F9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Inbound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or Chat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404872"/>
            <a:ext cx="106070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speaks via WebRTC audio (Opus) or sends message via Next.js chat portal.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84248" y="2286000"/>
            <a:ext cx="201168" cy="228600"/>
          </a:xfrm>
          <a:prstGeom prst="roundRect">
            <a:avLst>
              <a:gd name="adj" fmla="val 2272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228600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31136" y="1417320"/>
            <a:ext cx="1389888" cy="1965960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8296" y="155448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8296" y="15544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22576" y="18928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22576" y="2167128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Sanitizer &amp; Limits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95728" y="2404872"/>
            <a:ext cx="106070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246888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rate limit. Deflects injection attacks (DAN) &amp; medical diagnosis prompts.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66744" y="2286000"/>
            <a:ext cx="201168" cy="228600"/>
          </a:xfrm>
          <a:prstGeom prst="roundRect">
            <a:avLst>
              <a:gd name="adj" fmla="val 2272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228600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13632" y="1417320"/>
            <a:ext cx="1389888" cy="1965960"/>
          </a:xfrm>
          <a:prstGeom prst="roundRect">
            <a:avLst>
              <a:gd name="adj" fmla="val 6579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155448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15544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05072" y="18928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05072" y="2167128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Tools Gate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78224" y="2404872"/>
            <a:ext cx="106070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246888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&lt;60s ephemeral secrets. Routes tool executions via WebRTC DataChannel.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49240" y="2286000"/>
            <a:ext cx="201168" cy="228600"/>
          </a:xfrm>
          <a:prstGeom prst="roundRect">
            <a:avLst>
              <a:gd name="adj" fmla="val 2272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28600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96128" y="1417320"/>
            <a:ext cx="1389888" cy="1965960"/>
          </a:xfrm>
          <a:prstGeom prst="roundRect">
            <a:avLst>
              <a:gd name="adj" fmla="val 6579"/>
            </a:avLst>
          </a:prstGeom>
          <a:solidFill>
            <a:srgbClr val="F0F9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33288" y="155448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33288" y="15544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7568" y="18928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Engine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87568" y="2167128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Rules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60720" y="2404872"/>
            <a:ext cx="106070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246888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Doctor Scope (Junior A-B vs Senior A-E) &amp; working hours (09:00-17:00).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31736" y="2286000"/>
            <a:ext cx="201168" cy="228600"/>
          </a:xfrm>
          <a:prstGeom prst="roundRect">
            <a:avLst>
              <a:gd name="adj" fmla="val 2272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2286000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8624" y="1417320"/>
            <a:ext cx="1389888" cy="1965960"/>
          </a:xfrm>
          <a:prstGeom prst="roundRect">
            <a:avLst>
              <a:gd name="adj" fmla="val 6579"/>
            </a:avLst>
          </a:prstGeom>
          <a:solidFill>
            <a:srgbClr val="F0FDF4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15784" y="1554480"/>
            <a:ext cx="1115568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15784" y="15544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70064" y="189280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&amp; Storage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70064" y="2167128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&amp; Calendar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43216" y="2404872"/>
            <a:ext cx="106070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0064" y="246888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DB lock prevents double-booking. Syncs event to Google Calendar or Outlook.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" y="3566160"/>
            <a:ext cx="81198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3657600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ARCHITECTURAL GUARANTEES ENFORCED BY DESIGN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Ephemeral Secret Isolation
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OpenAI keys never touch the browser. Short-lived tokens expire in &lt;60 seconds.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8328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Authoritative Clinical Guard
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suggest slots, but backend code strictly enforces qualifications and clinic hours.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8932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Double-Booking Immunity
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row-locks and external calendar FreeBusy queries reject overlapping bookings.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COMPLIANCE &amp; SAFETY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Doctor Qualification &amp; Procedure Routing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procedures (Root Canal, Crown, Implants) are authoritatively restricted from junior dentists by backend logic.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484632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58952"/>
                <a:gridCol w="758952"/>
                <a:gridCol w="7589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Junior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Senior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Dr. Senior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Routine Cleaning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Cavity Filling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Root Canal Therapy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D: Crown &amp; Veneer Prep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E: Full Mouth Implant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41732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508760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43600" y="167335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Backend Validation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relies on system prompt instructions alone. AppointmentService throws an authoritative error if an unauthorized doctor is booked.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06440" y="246888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560320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TIME-EXPANSION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943600" y="272491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Slot Calculation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2926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automatically reserve consecutive 30-min increments (e.g. 6.0h Implant = 12 slots), ensuring zero scheduling overlap.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806440" y="3520440"/>
            <a:ext cx="26060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611880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943600" y="37764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User Redirection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3977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patient asks Dr. Junior for Service C/D/E, the AI politely suggests Dr. Senior 1 or 2 with their exact earliest available slots.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VOICE AI &amp; WEBRTC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WebRTC Voice Architecture (&lt;300ms)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patient voice streams directly to the AI engine while clinical tool calls are verified safely on the backend.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0F9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5448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/api/v1/voice/session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207568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Token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404872"/>
            <a:ext cx="212140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9631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browser requests a temporary session token. Next.js server calls OpenAI to generate an ephemeral client secret with &lt;60s expiry.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68680" y="3154680"/>
            <a:ext cx="2121408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54680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API KEY LEAKAGE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3172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11296" y="14173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155448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48456" y="185623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PeerConnection (Opus Audio)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48456" y="207568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WebRTC Audio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48456" y="2404872"/>
            <a:ext cx="212140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249631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establishes direct full-duplex WebRTC audio connection to OpenAI Realtime. Provides human-like speech with immediate interruption capability.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48456" y="3154680"/>
            <a:ext cx="2121408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3154680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&lt;300ms LATENCY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80176" y="2331720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233172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91072" y="141732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0FDF4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155448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28232" y="1856232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/api/v1/voice/tools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28232" y="207568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Tool Execution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28232" y="2404872"/>
            <a:ext cx="212140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49631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patient confirms a slot, function calling triggers over WebRTC DataChannel. The backend validates doctor qualification and writes to the DB.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28232" y="3154680"/>
            <a:ext cx="2121408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154680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RULE ENFORCED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1520" y="370332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8130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VOICE BOTS (2,500ms Delay)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Chained Pipeline: Audio -&gt; STT -&gt; LLM Text -&gt; TTS -&gt; Audio playback. Produces robotic pauses and cannot handle natural patient interruptions.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26280" y="384048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8130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BRIGHTSMILE WEBRTC ENGINE (&lt;300ms Delay)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Audio-to-Audio Realtime: Zero transcription middleman. Patients can speak naturally, laugh, or cut in mid-sentence without lag.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SYNCHRONIZATION &amp; MULTI-TENANCY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Dual-Calendar Engine: Google &amp; Outlook Parity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Provider-neutral calendar abstraction with live FreeBusy interval queries and dynamic database mapping.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39572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2395728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2121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89280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API v3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21992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FreeBusy Query: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batch queries to discover existing doctor appointments.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660904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Rotation: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refresh flow cached in-memory with 5m proactive renewal.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30998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RFC3339 UTC: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ISO normalization ensuring zero timezone calculation drift.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74136" y="1417320"/>
            <a:ext cx="239572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4136" y="1417320"/>
            <a:ext cx="2395728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508760"/>
            <a:ext cx="2121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11296" y="189280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 Outlook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11296" y="2221992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CalendarView: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dentist calendars via Entra ID authenticated Graph API.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11296" y="2660904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NextLink Paging: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drains multi-page @odata.nextLink busy blocks.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11296" y="30998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Mapping: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MS Graph local strings to canonical UTC strings.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16752" y="1417320"/>
            <a:ext cx="239572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1417320"/>
            <a:ext cx="2395728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508760"/>
            <a:ext cx="2121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SETTINGS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53912" y="189280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DB Maps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53912" y="2221992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calendar IDs stored in dentist_calendar_mappings table.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53912" y="2660904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Reconfig: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update doctor calendars in UI without server redeployment.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53912" y="30998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Fallback: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Gracefully uses environment variables if DB connection is cold.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79476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886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PREVENTION ALGORITHM (ZERO DOUBLE-BOOKING)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 DB Appts  -&gt;  2. Fetch Provider Busy Intervals  -&gt;  3. Overlap Check (start &lt; existingEnd &amp;&amp; end &gt; existingStart)  -&gt;  4. Atomic DB Lock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FORECAST &amp; OPERATING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$599.05/mo Operating Cost &amp; 83% ROI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on a busy dental practice handling 1,000 voice calls, 3,000 chat sessions, and ~650 bookings/month.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429768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640080"/>
                <a:gridCol w="640080"/>
              </a:tblGrid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Tier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Workload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Total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AI (OpenAI Realtime)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Spoken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$555.00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AI (GPT-4o-mini)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15,000 Turns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Hosting (Next.js)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150,000 Req/Mo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Database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10GB SSD Storage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Calendar APIs &amp; DNS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&amp; MS Cloud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MONTHLY OPEX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~650 Patient Bookings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$599.05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31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023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$0.56 / call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2793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VOICE CALL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194560" y="3931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4023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$0.0014 / chat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40280" y="42793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CHAT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657600" y="3931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40233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$0.92 / booking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03320" y="42793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BOOKED PATIENT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257800" y="1417320"/>
            <a:ext cx="31546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55448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COST VS. AI BOT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40680" y="18288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189280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Dental Receptionist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77840" y="20756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$3,500.00 / month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577840" y="2377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hrs/wk only • Misses after-hours • 1 caller at a time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440680" y="283464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28986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BrightSmile AI Solution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3081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$599.05 / month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77840" y="3383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24/7/365 coverage • Zero hold times • Unlimited concurrent lines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440680" y="384048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3904488"/>
            <a:ext cx="2788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ANNUAL CLINIC SAVINGS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440680" y="406908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$34,811 / year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COMPLIANCE &amp; PRODUCTION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 Guardrails &amp; Enterprise Security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with strict zero-trust principles: patient privacy, clinical boundary safety, and HIPAA readiness.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0876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EDGE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Defenses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1911096"/>
            <a:ext cx="3419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sanitizer catches jailbreak attempts ('DAN', 'ignore previous rules', system prompt leaks) before tokens hit the LLM, conserving billing and maintaining clinical tone.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50876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GUARD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28032" y="1673352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Diagnosis Deflection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28032" y="1911096"/>
            <a:ext cx="3419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strictly refuses diagnostic questions (e.g. 'Is my toothache an infection?', 'Prescribe amoxicillin') with an immediate official disclaimer directing the patient to in-person care.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7889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FIRST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6112" y="2953512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&amp; Patient Privacy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191256"/>
            <a:ext cx="3419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API keys and OAuth secrets never reach the browser bundle. Realtime voice audio streams are processed in-memory and discarded immediately after session termination.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7889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8032" y="2953512"/>
            <a:ext cx="3419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Concurrency Control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3191256"/>
            <a:ext cx="3419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unique constraints and row-level locks prevent race conditions. If two patients attempt to book the identical 30-minute slot, one succeeds and the other is offered next availability.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6908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PRODUCTION SUITE (100% PASSING)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4270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(bun test: 34 passing) • Edge Cases (7 passing) • Playwright E2E Suite (4 tabs passing) • Strict Linters (oxlint &amp; oxfmt)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2026-10-24T09:16:22Z</dcterms:created>
  <dcterms:modified xsi:type="dcterms:W3CDTF">2026-10-24T09:16:22Z</dcterms:modified>
</cp:coreProperties>
</file>