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005840"/>
            <a:ext cx="2926080" cy="347472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 CLINICAL AUTOMATION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Dental AI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Omnichannel Conversational Voice, Smart Chat &amp; Dual-Calendar Scheduling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926080"/>
            <a:ext cx="73152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200400"/>
            <a:ext cx="225856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3310128"/>
            <a:ext cx="1984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51560" y="3611880"/>
            <a:ext cx="1984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051560" y="3858768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Streaming Voice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51560" y="4096512"/>
            <a:ext cx="198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human-like voice over WebSocket, provider-agnostic &amp; zero master key leaks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447288" y="3200400"/>
            <a:ext cx="225856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84448" y="3310128"/>
            <a:ext cx="1984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584448" y="3611880"/>
            <a:ext cx="1984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BOOKING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584448" y="3858768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Calendar Engine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84448" y="4096512"/>
            <a:ext cx="198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bidirectional sync with Google Calendar API v3 &amp; Microsoft Graph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80176" y="3200400"/>
            <a:ext cx="225856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17336" y="3310128"/>
            <a:ext cx="19842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17336" y="3611880"/>
            <a:ext cx="19842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COMPLIANT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117336" y="3858768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Rule Safety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17336" y="4096512"/>
            <a:ext cx="198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Authoritative doctor qualification matrix &amp; anti-injection guardrails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OVERVIEW &amp; BUSINESS VALUE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Transforming Front-Desk Scheduling into a 24/7 Advantage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dental front-desks miss 35% of after-hours appointment requests. BrightSmile AI captures every patient.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37490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3749040" cy="411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508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CLINIC BOTTLENECKS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Overhead Cost: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 costs $3,500 - $4,500/mo per receptionist for limited 40h/week coverage.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Lost Revenue: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of patient calls occur after-hours or on weekends, resulting in abandoned bookings.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Scheduling Errors: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calendar data entry causes double-bookings and mismatched doctor scopes.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Hour Phone Hold: </a:t>
            </a:r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telephone hold times during morning rushes frustrate patients.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74904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7DD3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417320"/>
            <a:ext cx="3749040" cy="411480"/>
          </a:xfrm>
          <a:prstGeom prst="rect">
            <a:avLst/>
          </a:prstGeom>
          <a:solidFill>
            <a:srgbClr val="F0F9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508760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AI SOLUTION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19202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 Cost Reduction: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operational stack costs only $599/mo with unlimited concurrent capacity.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46320" y="23317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24/7/365 Omnichannel: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book anytime via spoken voice calls (streaming WebSocket) or instant chat.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7432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Double-Booking: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database locking and live sync to Google Calendar &amp; Outlook.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31546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Qualification: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hard rules prevent booking complex surgery with junior dentists.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152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Seconds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HOLD TIME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7724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pickup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9748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74320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AFTER-HOURS CAPTURE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missed calls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66344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$599.05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70916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OPERATING COST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0916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$3,500+ human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629400" y="379476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20840" y="3867912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300 ms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75120" y="4178808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LATENCY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675120" y="4343400"/>
            <a:ext cx="1691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dialog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36" name="Text 34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 &amp; FLOW DIAGRAM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Patient Booking &amp; Calendar Sync Flow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spoken voice and chat requests move securely from the patient browser to authoritative clinical confirmation.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0F9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Inbound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or Chat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13232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speaks via streaming PCM audio over WebSocket, or sends a message via the Next.js chat portal.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984248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84248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31136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68296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68296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322576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Edge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22576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&amp; Limits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395728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22576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Sliding window rate limit. Deflects injection attacks (DAN) &amp; medical diagnosis prompts.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666744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66744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13632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1F5F9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50792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50792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05072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005072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&amp; Tools Gate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78224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5072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Selects the configured voice provider and returns its session descriptor. Tool calls are executed server-side.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49240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9240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596128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0F9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33288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33288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687568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Engine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687568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Qualification Rules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760720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87568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Validates Doctor Scope (Junior A-B vs Senior A-E) &amp; working hours (09:00-17:00).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7031736" y="2286000"/>
            <a:ext cx="201168" cy="228600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2286000"/>
            <a:ext cx="2011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278624" y="1417320"/>
            <a:ext cx="1389888" cy="1965960"/>
          </a:xfrm>
          <a:prstGeom prst="roundRect">
            <a:avLst>
              <a:gd name="adj" fmla="val 6579"/>
            </a:avLst>
          </a:prstGeom>
          <a:solidFill>
            <a:srgbClr val="F0FDF4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415784" y="1554480"/>
            <a:ext cx="1115568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15784" y="1554480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70064" y="18928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 &amp; Storage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70064" y="2167128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&amp; Calendar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443216" y="2404872"/>
            <a:ext cx="1060704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70064" y="2468880"/>
            <a:ext cx="1207008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DB lock prevents double-booking. Syncs event to Google Calendar or Outlook.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48640" y="3566160"/>
            <a:ext cx="811987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3657600"/>
            <a:ext cx="7662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ARCHITECTURAL GUARANTEES ENFORCED BY DESIGN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77240" y="38862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Server-Owned Voice Session
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provider keys never touch the browser. The server returns only a session descriptor with the role and tools it granted.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3383280" y="38862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Authoritative Clinical Guard
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suggest slots, but backend code strictly enforces qualifications and clinic hours.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989320" y="38862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Double-Booking Immunity
</a:t>
            </a:r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row-locks and external calendar FreeBusy queries reject overlapping bookings.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54" name="Text 52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COMPLIANCE &amp; SAFETY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Doctor Qualification &amp; Procedure Routing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procedures (Root Canal, Crown, Implants) are authoritatively restricted from junior dentists by backend logic.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4846320" cy="301752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758952"/>
                <a:gridCol w="758952"/>
                <a:gridCol w="7589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Junior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Senior 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Dr. Senior 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9A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Routine Cleaning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Cavity Filling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Root Canal Therapy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D: Crown &amp; Veneer Prep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E: Full Mouth Implant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 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806440" y="141732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0" y="1508760"/>
            <a:ext cx="2331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943600" y="1673352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Backend Validation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87452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relies on system prompt instructions alone. AppointmentService throws an authoritative error if an unauthorized doctor is booked.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806440" y="246888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0" y="2560320"/>
            <a:ext cx="2331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TIME-EXPANSION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5943600" y="2724912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Slot Calculation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0" y="29260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automatically reserve consecutive 30-min increments (e.g. 6.0h Implant = 12 slots), ensuring zero scheduling overlap.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806440" y="3520440"/>
            <a:ext cx="260604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0" y="3611880"/>
            <a:ext cx="2331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AUTO-ROUTING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943600" y="3776472"/>
            <a:ext cx="2331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Friendly User Redirection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943600" y="39776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patient asks Dr. Junior for Service C/D/E, the AI politely suggests Dr. Senior 1 or 2 with their exact earliest available slots.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9" name="Text 16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VOICE AI &amp; WEBSOCKET 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Provider-Agnostic Streaming Voice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patient voice streams over WebSocket to the configured realtime provider while clinical tool calls are verified safely on the backend.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395728" cy="2103120"/>
          </a:xfrm>
          <a:prstGeom prst="roundRect">
            <a:avLst>
              <a:gd name="adj" fmla="val 4348"/>
            </a:avLst>
          </a:prstGeom>
          <a:solidFill>
            <a:srgbClr val="F0F9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5544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1856232"/>
            <a:ext cx="21214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/api/v1/voice/session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68680" y="207568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Session Gate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2404872"/>
            <a:ext cx="2121408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49631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picks the configured voice provider and returns its session descriptor: a single-use Gemini token, or a direct endpoint URL when an OpenAI-compatible server is configured.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68680" y="3154680"/>
            <a:ext cx="2121408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154680"/>
            <a:ext cx="2121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API KEY LEAKAGE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200400" y="2331720"/>
            <a:ext cx="237744" cy="256032"/>
          </a:xfrm>
          <a:prstGeom prst="roundRect">
            <a:avLst>
              <a:gd name="adj" fmla="val 2307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233172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11296" y="1417320"/>
            <a:ext cx="239572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48456" y="15544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48456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48456" y="1856232"/>
            <a:ext cx="21214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WebSocket (PCM16 16/24 kHz)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48456" y="207568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 WebSocket Audio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48456" y="2404872"/>
            <a:ext cx="2121408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48456" y="249631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streams base64 PCM audio over a WebSocket to the realtime provider in both directions. Full-duplex audio with immediate interruption handling.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48456" y="3154680"/>
            <a:ext cx="2121408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48456" y="3154680"/>
            <a:ext cx="2121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PROVIDER-AGNOSTIC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980176" y="2331720"/>
            <a:ext cx="237744" cy="256032"/>
          </a:xfrm>
          <a:prstGeom prst="roundRect">
            <a:avLst>
              <a:gd name="adj" fmla="val 23077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80176" y="2331720"/>
            <a:ext cx="237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91072" y="1417320"/>
            <a:ext cx="2395728" cy="2103120"/>
          </a:xfrm>
          <a:prstGeom prst="roundRect">
            <a:avLst>
              <a:gd name="adj" fmla="val 4348"/>
            </a:avLst>
          </a:prstGeom>
          <a:solidFill>
            <a:srgbClr val="F0FDF4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8232" y="1554480"/>
            <a:ext cx="914400" cy="228600"/>
          </a:xfrm>
          <a:prstGeom prst="roundRect">
            <a:avLst>
              <a:gd name="adj" fmla="val 48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28232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428232" y="1856232"/>
            <a:ext cx="21214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/api/v1/voice/tools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28232" y="207568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Tool Execution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28232" y="2404872"/>
            <a:ext cx="2121408" cy="0"/>
          </a:xfrm>
          <a:prstGeom prst="line">
            <a:avLst/>
          </a:prstGeom>
          <a:noFill/>
          <a:ln w="10160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2496312"/>
            <a:ext cx="212140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patient confirms a slot, the provider emits a tool call that the browser relays to the server. The backend validates doctor qualification and writes to the DB.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428232" y="3154680"/>
            <a:ext cx="2121408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154680"/>
            <a:ext cx="21214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RULE ENFORCED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31520" y="3703320"/>
            <a:ext cx="7680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381304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VOICE BOTS (2,500ms Delay)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1440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Chained Pipeline: Audio -&gt; STT -&gt; LLM Text -&gt; TTS -&gt; Audio playback. Produces robotic pauses and cannot handle natural patient interruptions.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26280" y="3840480"/>
            <a:ext cx="0" cy="59436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3813048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STREAMING ENGINE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70916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Audio-to-Audio Realtime: Zero transcription middleman. Patients can speak naturally, laugh, or cut in mid-sentence without lag.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3" name="Text 41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SYNCHRONIZATION &amp; MULTI-TENANCY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Dual-Calendar Engine: Google &amp; Outlook Parity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Provider-neutral calendar abstraction with live FreeBusy interval queries and dynamic database mapping.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239572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2395728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212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WORKSPACE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189280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Calendar API v3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221992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FreeBusy Query: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batch queries to discover existing doctor appointments.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2660904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Rotation: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refresh flow cached in-memory with 5m proactive renewal.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68680" y="3099816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RFC3339 UTC: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ISO normalization ensuring zero timezone calculation drift.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74136" y="1417320"/>
            <a:ext cx="239572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74136" y="1417320"/>
            <a:ext cx="2395728" cy="384048"/>
          </a:xfrm>
          <a:prstGeom prst="rect">
            <a:avLst/>
          </a:prstGeom>
          <a:solidFill>
            <a:srgbClr val="F0F9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1508760"/>
            <a:ext cx="212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365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11296" y="189280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Graph Outlook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11296" y="2221992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CalendarView: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dentist calendars via Entra ID authenticated Graph API.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11296" y="2660904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NextLink Paging: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Recursively drains multi-page @odata.nextLink busy blocks.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511296" y="3099816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UTC Mapping: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MS Graph local strings to canonical UTC strings.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16752" y="1417320"/>
            <a:ext cx="239572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16752" y="1417320"/>
            <a:ext cx="2395728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1508760"/>
            <a:ext cx="2121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SETTINGS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153912" y="1892808"/>
            <a:ext cx="2121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DB Maps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53912" y="2221992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Table: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calendar IDs stored in dentist_calendar_mappings table.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153912" y="2660904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Reconfig: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update doctor calendars in UI without server redeployment.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53912" y="3099816"/>
            <a:ext cx="21214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Fallback: 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Gracefully uses environment variables if DB connection is cold.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31520" y="3794760"/>
            <a:ext cx="7680960" cy="777240"/>
          </a:xfrm>
          <a:prstGeom prst="roundRect">
            <a:avLst>
              <a:gd name="adj" fmla="val 9412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88620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 PREVENTION ALGORITHM (ZERO DOUBLE-BOOKING)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440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Read DB Appts  -&gt;  2. Fetch Provider Busy Intervals  -&gt;  3. Overlap Check (start &lt; existingEnd &amp;&amp; end &gt; existingStart)  -&gt;  4. Atomic DB Lock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30" name="Text 28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FORECAST &amp; OPERATING ECONOMICS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$599.05/mo Operating Cost &amp; 83% ROI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on a busy dental practice handling 1,000 voice calls, 3,000 chat sessions, and ~650 bookings/month.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4297680" cy="237744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640080"/>
                <a:gridCol w="640080"/>
              </a:tblGrid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Infrastructure Tier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Workload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Total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Voice AI (Realtime, illustrative)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3,000 Spoken Min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4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$555.00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 AI (GPT-4o-mini)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15,000 Turns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4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Hosting (Next.js)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150,000 Req/Mo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4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Database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10GB SSD Storage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4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Calendar APIs &amp; DNS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&amp; MS Cloud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284C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MONTHLY OPEX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~650 Patient Bookings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$599.05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4C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393192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023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$0.56 / call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427939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VOICE CALL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194560" y="393192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40280" y="4023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$0.0014 / chat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240280" y="427939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CHAT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3657600" y="393192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03320" y="40233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$0.92 / booking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03320" y="427939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PER BOOKED PATIENT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5257800" y="1417320"/>
            <a:ext cx="3154680" cy="3154680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40680" y="1554480"/>
            <a:ext cx="2788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RECEPTIONIST COST VS. AI BOT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40680" y="182880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189280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Dental Receptionist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577840" y="20756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91B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$3,500.00 / month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577840" y="237744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hrs/wk only • Misses after-hours • 1 caller at a time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5440680" y="2834640"/>
            <a:ext cx="2788920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77840" y="289864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BrightSmile AI Solution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577840" y="30815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$599.05 / month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577840" y="33832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453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24/7/365 coverage • Zero hold times • Unlimited concurrent lines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440680" y="3840480"/>
            <a:ext cx="2788920" cy="594360"/>
          </a:xfrm>
          <a:prstGeom prst="roundRect">
            <a:avLst>
              <a:gd name="adj" fmla="val 12308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40680" y="3904488"/>
            <a:ext cx="2788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ANNUAL CLINIC SAVINGS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5440680" y="4069080"/>
            <a:ext cx="2788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$34,811 / year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9" name="Text 26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COMPLIANCE &amp; PRODUCTION READINESS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5836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Safety Guardrails &amp; Enterprise Security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0515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Engineered with strict zero-trust principles: patient privacy, clinical boundary safety, and HIPAA readiness.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50876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EDGE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96112" y="167335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Injection Defenses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96112" y="191109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sanitizer catches jailbreak attempts ('DAN', 'ignore previous rules', system prompt leaks) before tokens hit the LLM, conserving billing and maintaining clinical tone.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8032" y="150876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GUARD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28032" y="167335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Diagnosis Deflection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28032" y="191109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strictly refuses diagnostic questions (e.g. 'Is my toothache an infection?', 'Prescribe amoxicillin') with an immediate official disclaimer directing the patient to in-person care.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1520" y="269748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7889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FIRST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96112" y="295351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HIPAA &amp; Patient Privacy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96112" y="319125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API keys and OAuth secrets never reach the browser bundle. Realtime voice audio streams are processed in-memory and discarded immediately after session termination.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2697480"/>
            <a:ext cx="3749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8032" y="2788920"/>
            <a:ext cx="3419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28032" y="2953512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Concurrency Control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3191256"/>
            <a:ext cx="341985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unique constraints and row-level locks prevent race conditions. If two patients attempt to book the identical 30-minute slot, one succeeds and the other is offered next availability.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31520" y="3977640"/>
            <a:ext cx="7680960" cy="685800"/>
          </a:xfrm>
          <a:prstGeom prst="roundRect">
            <a:avLst>
              <a:gd name="adj" fmla="val 10667"/>
            </a:avLst>
          </a:prstGeom>
          <a:solidFill>
            <a:srgbClr val="E0F2FE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4069080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PRODUCTION SUITE (100% PASSING)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4270248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Tests (bun test: 34 passing) • Edge Cases (7 passing) • Playwright E2E Suite (4 tabs passing) • Strict Linters (oxlint &amp; oxfmt)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503920" y="4663440"/>
            <a:ext cx="347472" cy="347472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5" name="Text 23"/>
          <p:cNvSpPr/>
          <p:nvPr/>
        </p:nvSpPr>
        <p:spPr>
          <a:xfrm>
            <a:off x="8503920" y="46634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2026-10-30T13:58:00Z</dcterms:created>
  <dcterms:modified xsi:type="dcterms:W3CDTF">2026-10-30T13:58:00Z</dcterms:modified>
</cp:coreProperties>
</file>